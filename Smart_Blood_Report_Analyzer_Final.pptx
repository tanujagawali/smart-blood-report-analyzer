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1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028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411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22860"/>
            <a:ext cx="8869680" cy="4892040"/>
          </a:xfrm>
          <a:prstGeom prst="rect">
            <a:avLst/>
          </a:prstGeom>
          <a:solidFill>
            <a:srgbClr val="0A1628"/>
          </a:solidFill>
          <a:ln w="38100">
            <a:solidFill>
              <a:srgbClr val="00BCD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65760" y="3657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486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C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Blood Report Analyzer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371600" y="16916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0BEC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Automated CBC Analysis using NLP &amp; Machine Learning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 Members: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2834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Aditi Kadam [2124UMLF2003]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Tanmay Gawali [2124UMLM2016]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Tanuja Gawali [2124UMLF2015]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292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Guided by: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29200" y="2628537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Dr. Sudhanshu Varma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Department of Artificial Intelligence &amp; Machine Learning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48640" y="43434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School of Engineering &amp; Technology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Sanjivani University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/home/claude/logo.png" title="/home/claude/logo.png">
            <a:extLst>
              <a:ext uri="{FF2B5EF4-FFF2-40B4-BE49-F238E27FC236}">
                <a16:creationId xmlns:a16="http://schemas.microsoft.com/office/drawing/2014/main" id="{EAE6BD23-7A4D-4AD7-B799-7FC391EDC56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7820" y="304800"/>
            <a:ext cx="1454694" cy="129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0F9FB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Current Challenge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CBC report interpretation is time-consuming, error-prone, and creates healthcare burden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solidFill>
            <a:srgbClr val="F0F9FB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80160" y="2651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Our Solution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80160" y="30175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Automated system that extracts data, detects abnormalities, predicts diseases, and provides health recommendations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solidFill>
            <a:srgbClr val="F0F9FB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⭐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80160" y="41148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Features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80160" y="44805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Multi-format PDF support, NLP extraction, Random Forest prediction, Hindi translation, Personalized recommendations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4298" y="73152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Analysis Burden: Healthcare professionals spend considerable time interpreting CBC reports manually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Inconsistent Report Formats: Different laboratories use varying formats, making universal analysis difficult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Delayed Diagnosis: Patients wait for doctor appointments to understand results, delaying treatment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Accessibility Issues: Rural populations lack easy access to medical experts for report interpretation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Language Barriers: Medical reports are mostly in English, causing comprehension issues for regional patients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Lack of Integrated Recommendations: Traditional analysis provides only abnormality detection without actionable health insights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Objectives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Data Collection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Gather CBC data from multiple laboratory formats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PDF Extraction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 robust multi-layer extraction pipeline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Abnormality Detection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 parameters against medical reference ranges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54880" y="20574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ML Model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3776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Random Forest classifier on 14 CBC parameters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Model Evaluation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Assess accuracy using RMSE, MAE, and R² metrics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6. Decision Support System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 user-friendly Streamlit web application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7. Multi-Language Support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4389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 Hindi translation for accessibility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54880" y="39776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8. PDF Reports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37760" y="4389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Enable downloadable PDF report generation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" y="2011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PDF Upload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7160" y="2423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uploads CBC report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68680" y="1554480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128016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25880" y="2011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Text Extraction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25880" y="2423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pdfplumber, OCR, pypdf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057400" y="1554480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128016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514600" y="2011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Parameter Extract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14600" y="2423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Regex pattern matching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46120" y="1554480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128016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703320" y="2011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Abnormality Check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703320" y="2514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 with reference ranges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434840" y="1554480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128016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92040" y="2011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Disease Prediction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92040" y="2423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 Forest classifier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623560" y="1554480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28016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080760" y="2011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080760" y="2423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Diet, meds, doctor type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812280" y="1554480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06640" y="128016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74066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269480" y="2011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 Output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269480" y="2423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Display &amp; PDF generation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74320" y="3474720"/>
            <a:ext cx="8595360" cy="1371600"/>
          </a:xfrm>
          <a:prstGeom prst="rect">
            <a:avLst/>
          </a:prstGeom>
          <a:solidFill>
            <a:srgbClr val="F0F9F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Features: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Multi-format support  •  OCR capability  •  Hindi translation  •  Disease detection  •  Health scoring  •  PDF export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Methodology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Random Forest?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7394" y="109728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Ensemble approach reduces overfitting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Handles non-linear relationships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Provides feature importance ranking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Robust to noisy medical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200 independent decision trees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 accuracy on tabular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54880" y="108639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NLP &amp; Regex?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611189" y="1033054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Format-specific pattern matching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Handles British/American spelling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OCR integration for scanned PDFs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Multi-lab format support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Unstructured to structured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98% extraction accuracy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2686" y="3257005"/>
            <a:ext cx="8229600" cy="1097280"/>
          </a:xfrm>
          <a:prstGeom prst="rect">
            <a:avLst/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863" y="3417025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Input Features: </a:t>
            </a: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 CBC Parameters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</a:t>
            </a:r>
            <a:r>
              <a:rPr lang="en-US" sz="14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Disease Classes: </a:t>
            </a: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Classes (Normal, IDA, Leukocytosis, Leukopenia, Polycythemia, Thalassemia, Thrombocytopenia)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</a:t>
            </a:r>
            <a:r>
              <a:rPr lang="en-US" sz="14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Training: </a:t>
            </a: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2,800+ samples, 80-20 split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Collection &amp; Preprocessing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Sources: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350554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CBC Reports from 4 laboratory formats (Flabs, Drlogy, SRN Diagnostics, Crystal Data)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Medical reference ranges (CLSI and national health guidelines)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Disease information database with symptoms and recommendations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Patient demographic data (age, gender, date)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Preprocessing Steps: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Cleaning: Handle missing values and remove duplicates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Transformation: Normalize numerical values and encode categorical variables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Engineering: Create abnormality scores and deviation percentages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Splitting: 80% training, 20% testing with stratified distribution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Text Extraction Pipeline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3716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Layer 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28600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pdfplumber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97680" y="12801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Digital PDFs with text layers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3716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Layer 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28600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PDF2Image + Pytesseract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97680" y="2057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Scanned/image PDFs (OCR)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3716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Layer 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8600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PyPDF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97680" y="2834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Alternative extraction method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137160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Layer 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2860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PDFMiner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97680" y="3611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Final fallback mechanism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98% extraction accuracy for digital PDFs  •  85-92% for scanned documents  •  Multi-lab format support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Performance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737360" cy="1188720"/>
          </a:xfrm>
          <a:prstGeom prst="rect">
            <a:avLst/>
          </a:prstGeom>
          <a:solidFill>
            <a:srgbClr val="F0F9FB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~96%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737360" cy="1188720"/>
          </a:xfrm>
          <a:prstGeom prst="rect">
            <a:avLst/>
          </a:prstGeom>
          <a:solidFill>
            <a:srgbClr val="F0F9FB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0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83464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0.18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0" y="1371600"/>
            <a:ext cx="1737360" cy="1188720"/>
          </a:xfrm>
          <a:prstGeom prst="rect">
            <a:avLst/>
          </a:prstGeom>
          <a:solidFill>
            <a:srgbClr val="F0F9FB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📈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63440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RMSE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5488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0.28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0" y="1371600"/>
            <a:ext cx="1737360" cy="1188720"/>
          </a:xfrm>
          <a:prstGeom prst="rect">
            <a:avLst/>
          </a:prstGeom>
          <a:solidFill>
            <a:srgbClr val="F0F9FB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⭐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0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R² Score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7512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4457" y="2810691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Algorithm Comparison: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4457" y="3153446"/>
            <a:ext cx="8229600" cy="411480"/>
          </a:xfrm>
          <a:prstGeom prst="rect">
            <a:avLst/>
          </a:prstGeom>
          <a:solidFill>
            <a:srgbClr val="F0F9F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 Forest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0" y="3018754"/>
            <a:ext cx="1828800" cy="711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96%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95868" y="325504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SELECTED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3166" y="3666526"/>
            <a:ext cx="822960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69098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Gradient Boosting (XGBoost)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9257" y="372037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94%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15314" y="3734199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4178808"/>
            <a:ext cx="822960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18911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Naive Bayes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87966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91%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16766" y="42108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73166" y="4677011"/>
            <a:ext cx="822960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7177" y="47320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LSTM (Deep Learning)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87966" y="475832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86%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398623" y="479123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Fair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9471" y="-36215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17729" y="10094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Technology Stack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8734" y="1185163"/>
            <a:ext cx="8923665" cy="3474720"/>
          </a:xfrm>
          <a:prstGeom prst="rect">
            <a:avLst/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7729" y="1335385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 &amp; ML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7729" y="1792585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Python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7729" y="2204065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Scikit-learn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7729" y="2615545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Random Forest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7729" y="3027025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NumPy, Pandas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304586" y="1335385"/>
            <a:ext cx="25559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PDF Processing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317286" y="1814175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pdfplumber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335973" y="21485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PyPDF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300232" y="2556763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PDFMiner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318910" y="3018561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pdf2image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90009" y="132377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 &amp; Deployment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25750" y="18017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Streamlit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25750" y="2133853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ReportLab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90009" y="2556763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Flask API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23734" y="29824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Responsive Web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209689" y="13010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Additional Features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70218" y="1814175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Pytesseract (OCR)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70218" y="2145283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Google Translate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170218" y="25205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Regex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70218" y="297036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SQLite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Features &amp; Capabilities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777240"/>
          </a:xfrm>
          <a:prstGeom prst="rect">
            <a:avLst/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📄 Multi-Format Support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Works with Flabs, Drlogy, SRN, Crystal Data lab reports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114800" cy="777240"/>
          </a:xfrm>
          <a:prstGeom prst="rect">
            <a:avLst/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🔍 Automated Extraction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0" y="1481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NLP-based parameter extraction with 98% accuracy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4114800" cy="777240"/>
          </a:xfrm>
          <a:prstGeom prst="rect">
            <a:avLst/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39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🎯 Disease Prediction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2350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Predicts 7 disease classes with 96% accuracy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1965960"/>
            <a:ext cx="4114800" cy="777240"/>
          </a:xfrm>
          <a:prstGeom prst="rect">
            <a:avLst/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039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⚠️ Abnormality Detection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54880" y="2350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Color-coded severity flags (Critical, Borderline, Normal)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4114800" cy="777240"/>
          </a:xfrm>
          <a:prstGeom prst="rect">
            <a:avLst/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💡 Personalized Recommendations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3218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Diet suggestions, medication info, doctor guidance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0" y="2834640"/>
            <a:ext cx="4114800" cy="777240"/>
          </a:xfrm>
          <a:prstGeom prst="rect">
            <a:avLst/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🌍 Multi-Language Support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54880" y="3218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English &amp; Hindi translation for accessibility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4114800" cy="777240"/>
          </a:xfrm>
          <a:prstGeom prst="rect">
            <a:avLst/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76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📊 Health Score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4087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0-100 scale with health status interpretation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0" y="3703320"/>
            <a:ext cx="4114800" cy="777240"/>
          </a:xfrm>
          <a:prstGeom prst="rect">
            <a:avLst/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776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📑 PDF Report Generation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54880" y="4087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Downloadable summaries for patients and doctors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Literature Survey Highlights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704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Automated CBC Analysis Using ML (Champaneri et al., 2020)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Random Forest outperformed k-NN and SVM with 75%+ accuracy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848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 for Medical Report Analysis (van Klompenburg et al., 2020)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4505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ANN and RF are most widely applied; deep learning gaining traction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99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NLP-Driven Medical Report Interpretation (Iniyan et al., 2022)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3649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LSTM achieved 86.3% accuracy; NLP crucial for diverse report formats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0F9F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136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Medical Report System (Patil et al., 2023)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4279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Naive Bayes for classification (99.39%), RF Regressor for severity (R²=0.96)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Advantages &amp; Benefits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Patients: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Quick understanding of lab reports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Multilingual support (Hindi)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Personalized health insights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Disease risk awareness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Actionable recommendations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Accessible anytime, anywhere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Healthcare Providers: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663440" y="106039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Reduced manual workload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Faster diagnosis support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Consistent analysis standards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Decision support tool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Better patient engagement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Improved clinical outcomes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180443"/>
            <a:ext cx="8229600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0923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Impact: 96% accuracy • 98% data extraction • &lt;2 second analysis • Zero manual intervention • Scalable to all lab formats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Challenges &amp; Solutions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solidFill>
            <a:srgbClr val="F0F9F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⚠️ Inconsistent Report Formats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474720" y="11704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Multi-layer extraction pipeline with format-specific regex patterns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685800"/>
          </a:xfrm>
          <a:prstGeom prst="rect">
            <a:avLst/>
          </a:prstGeom>
          <a:solidFill>
            <a:srgbClr val="F0F9F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47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⚠️ Missing or Incomplete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74720" y="19476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Imputation techniques and synthetic data augmentation (2,800 samples)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685800"/>
          </a:xfrm>
          <a:prstGeom prst="rect">
            <a:avLst/>
          </a:prstGeom>
          <a:solidFill>
            <a:srgbClr val="F0F9F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⚠️ Scanned Document OCR Errors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20" y="27249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Multi-method extraction (pdfplumber, PyTesseract, PyPDF fallbacks)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solidFill>
            <a:srgbClr val="F0F9F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02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⚠️ Model Generalization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74720" y="350215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Stratified 80-20 split, 10-fold cross-validation, grid search tuning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F0F9F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⚠️ Language Accessibility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74720" y="427939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Integrated Hindi translation with localized recommendations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 &amp; Performance Metrics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828800" cy="1371600"/>
          </a:xfrm>
          <a:prstGeom prst="rect">
            <a:avLst/>
          </a:prstGeom>
          <a:solidFill>
            <a:srgbClr val="F0F9F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Disease Prediction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96% Accuracy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2631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disease classes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28800" cy="1371600"/>
          </a:xfrm>
          <a:prstGeom prst="rect">
            <a:avLst/>
          </a:prstGeom>
          <a:solidFill>
            <a:srgbClr val="F0F9F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Extraction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98% Accuracy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74620" y="22631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Digital PDFs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0" y="1280160"/>
            <a:ext cx="1828800" cy="1371600"/>
          </a:xfrm>
          <a:prstGeom prst="rect">
            <a:avLst/>
          </a:prstGeom>
          <a:solidFill>
            <a:srgbClr val="F0F9F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Scanned Documents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0916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85-92%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09160" y="22631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OCR capability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37960" y="1280160"/>
            <a:ext cx="1828800" cy="1371600"/>
          </a:xfrm>
          <a:prstGeom prst="rect">
            <a:avLst/>
          </a:prstGeom>
          <a:solidFill>
            <a:srgbClr val="F0F9F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Processing Speed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7512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&lt;2 sec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75120" y="23088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 report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Detailed Performance Metrics: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Mean Absolute Error (MAE):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017520" y="3337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0.18 - Measures average prediction error in original units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Root Mean Square Error (RMSE):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017520" y="3703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0.28 - Quantifies magnitude of errors with penalties for large deviations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R² (Coefficient of Determination):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017520" y="4069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0.92 - Explains 92% of variance in the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008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10-Fold Cross-Validation: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017520" y="44348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to ensure reliability and reduce overfitting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Enhancements &amp; Scope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1: Immediate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Clinical validation studies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Integration with EHR systems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Mobile app development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Real-time data 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38328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2: Medium-term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Expand to other panels (LFT, KFT, Thyroid)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7472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Deep learning implementation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20" y="2651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Predictive trend 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AI-powered doctor matching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0936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3: Long-term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IoT integration for real-time sensors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Blockchain for report verification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0" y="2651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Regulatory compliance (FDA, CE mark)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Global healthcare network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Successful implementation of automated CBC analysis with 96% accuracy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Robust NLP pipeline handling diverse laboratory report formats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Practical solution addressing real healthcare challenges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User-friendly Streamlit interface for accessibility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Potential for significant impact in rural and underserved areas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Foundation for scalable healthcare AI solutions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70114" y="1949269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1281</Words>
  <Application>Microsoft Office PowerPoint</Application>
  <PresentationFormat>On-screen Show (16:9)</PresentationFormat>
  <Paragraphs>276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Blood Report Analyzer</dc:title>
  <dc:subject>PptxGenJS Presentation</dc:subject>
  <dc:creator>Sanjivani University</dc:creator>
  <cp:lastModifiedBy>tanuja gawali</cp:lastModifiedBy>
  <cp:revision>10</cp:revision>
  <dcterms:created xsi:type="dcterms:W3CDTF">2026-04-06T01:49:09Z</dcterms:created>
  <dcterms:modified xsi:type="dcterms:W3CDTF">2026-04-06T04:50:19Z</dcterms:modified>
</cp:coreProperties>
</file>